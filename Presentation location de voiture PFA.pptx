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3" d="100"/>
          <a:sy n="83" d="100"/>
        </p:scale>
        <p:origin x="80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6648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0"/>
            <a:ext cx="731520" cy="5143500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008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Gestion de Location de Voitures</a:t>
            </a:r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Web Full-Stack de Location de Véhicules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5029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5146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par 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Fatiha Sabar  |  Errami Mohamed Taha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8803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Encadrante 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Soukayna Mayara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2461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Filière 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3IIR — EMSI Casablanca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6118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universitaire 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2025–2026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4069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 :  2026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14</a:t>
            </a:r>
            <a:endParaRPr lang="en-US" sz="1100" dirty="0"/>
          </a:p>
        </p:txBody>
      </p:sp>
      <p:pic>
        <p:nvPicPr>
          <p:cNvPr id="13" name="Image 12" descr="EMSI Marrakech - Tout sur Ecole Marocaine des Sciences de l ...">
            <a:extLst>
              <a:ext uri="{FF2B5EF4-FFF2-40B4-BE49-F238E27FC236}">
                <a16:creationId xmlns:a16="http://schemas.microsoft.com/office/drawing/2014/main" id="{E76AC9EF-4892-C7E1-354C-D81F350D50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3680" y="0"/>
            <a:ext cx="2560320" cy="9899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— Contexte &amp; Problématique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0690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64008" cy="3840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241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Maroc : secteur location voitures en pleine expansion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Tourisme &amp; déplacements professionnels en hausse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Majorité des agences : gestion traditionnelle (papier, téléphone)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habitués aux standards Booking, Avis, Hertz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069080" cy="3840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0789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150876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concevoir une plateforme web Full-Stack pour digitaliser et centraliser la location de véhicules au Maroc, avec une expérience utilisateur moderne 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297180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BDD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multi-rôles (client, agence, admin)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BDD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Fiabilité des réservations en temps réel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BDD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responsive et accessible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BDD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Sécurisation des accès et des données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du Projet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517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265176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05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Fonctionnels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1508760"/>
            <a:ext cx="2468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filtrable de véhicules premium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Réservations en ligne pour les clients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flotte &amp; réservations (agences)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admin avec statistiques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1005840"/>
            <a:ext cx="26517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005840"/>
            <a:ext cx="265176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005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47288" y="1508760"/>
            <a:ext cx="2468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React.js + API REST Node.js/Express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MySQL normalisée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JWT &amp; contrôle RBAC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client-serveur 3 niveaux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005840"/>
            <a:ext cx="26517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005840"/>
            <a:ext cx="265176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005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Pédagogiques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27648" y="1508760"/>
            <a:ext cx="2468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pratique du développement Full-Stack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projet bout-en-bout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UML &amp; conception BD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051560"/>
            <a:ext cx="3840480" cy="1005840"/>
          </a:xfrm>
          <a:prstGeom prst="rect">
            <a:avLst/>
          </a:prstGeom>
          <a:solidFill>
            <a:srgbClr val="0D1F35"/>
          </a:solidFill>
          <a:ln w="12700">
            <a:solidFill>
              <a:srgbClr val="1C7293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1887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600200" y="12344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240280"/>
            <a:ext cx="3840480" cy="1005840"/>
          </a:xfrm>
          <a:prstGeom prst="rect">
            <a:avLst/>
          </a:prstGeom>
          <a:solidFill>
            <a:srgbClr val="0D1F35"/>
          </a:solidFill>
          <a:ln w="12700">
            <a:solidFill>
              <a:srgbClr val="1C7293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3774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600200" y="24231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&amp; Analyse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3429000"/>
            <a:ext cx="3840480" cy="1005840"/>
          </a:xfrm>
          <a:prstGeom prst="rect">
            <a:avLst/>
          </a:prstGeom>
          <a:solidFill>
            <a:srgbClr val="0D1F35"/>
          </a:solidFill>
          <a:ln w="12700">
            <a:solidFill>
              <a:srgbClr val="1C7293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356616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600200" y="36118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&amp; Architecture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0" y="1051560"/>
            <a:ext cx="3840480" cy="1005840"/>
          </a:xfrm>
          <a:prstGeom prst="rect">
            <a:avLst/>
          </a:prstGeom>
          <a:solidFill>
            <a:srgbClr val="0D1F35"/>
          </a:solidFill>
          <a:ln w="12700">
            <a:solidFill>
              <a:srgbClr val="1C7293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66360" y="11887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897880" y="12344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 &amp; Démonstration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29200" y="2240280"/>
            <a:ext cx="3840480" cy="1005840"/>
          </a:xfrm>
          <a:prstGeom prst="rect">
            <a:avLst/>
          </a:prstGeom>
          <a:solidFill>
            <a:srgbClr val="0D1F35"/>
          </a:solidFill>
          <a:ln w="12700">
            <a:solidFill>
              <a:srgbClr val="1C7293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166360" y="23774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897880" y="24231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&amp; Tests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0" y="3429000"/>
            <a:ext cx="3840480" cy="1005840"/>
          </a:xfrm>
          <a:prstGeom prst="rect">
            <a:avLst/>
          </a:prstGeom>
          <a:solidFill>
            <a:srgbClr val="0D1F35"/>
          </a:solidFill>
          <a:ln w="12700">
            <a:solidFill>
              <a:srgbClr val="1C7293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166360" y="356616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897880" y="36118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Détaillée &amp; Cahier des Charges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029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07899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l'existant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6008843"/>
              </p:ext>
            </p:extLst>
          </p:nvPr>
        </p:nvGraphicFramePr>
        <p:xfrm>
          <a:off x="502920" y="1481328"/>
          <a:ext cx="4389120" cy="3200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7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46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Plateformes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intl.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Plateformes locales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MarocAuto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 moderne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 agence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Partielle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global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Marché marocain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Partielle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Véhicules premium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669280" y="1005840"/>
            <a:ext cx="3200400" cy="3794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806440" y="10972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Exigences principales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806440" y="1554480"/>
            <a:ext cx="32004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06440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199632" y="15727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types d'utilisateurs distincts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806440" y="2176272"/>
            <a:ext cx="32004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06440" y="2176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199632" y="2194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Réservations en temps réel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806440" y="2798064"/>
            <a:ext cx="32004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06440" y="27980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199632" y="28163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JWT + RBAC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806440" y="3419856"/>
            <a:ext cx="32004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06440" y="34198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199632" y="34381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responsive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806440" y="4041648"/>
            <a:ext cx="32004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06440" y="40416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199632" y="405993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documentée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&amp; Démarche de Projet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4892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87452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352" y="10241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38988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besoin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77440" y="1463040"/>
            <a:ext cx="1371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48840"/>
            <a:ext cx="18745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" y="2240280"/>
            <a:ext cx="1691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des acteurs, besoins fonctionnels &amp; non-fonctionnels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0" y="1005840"/>
            <a:ext cx="187452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33472" y="10241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51760" y="138988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80560" y="1463040"/>
            <a:ext cx="1371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0" y="2148840"/>
            <a:ext cx="18745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670048" y="2240280"/>
            <a:ext cx="1691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d'utilisation, diagrammes de classes et de séquence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1005840"/>
            <a:ext cx="187452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36592" y="10241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754880" y="138988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83680" y="1463040"/>
            <a:ext cx="1371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2148840"/>
            <a:ext cx="18745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73168" y="2240280"/>
            <a:ext cx="1691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frontend + Node.js/Express backend + MySQL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66560" y="1005840"/>
            <a:ext cx="187452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39712" y="10241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858000" y="138988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Fonctionnels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766560" y="2148840"/>
            <a:ext cx="18745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76288" y="2240280"/>
            <a:ext cx="1691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manuels par scénario (auth, réservation, admin)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846320"/>
            <a:ext cx="8321040" cy="201168"/>
          </a:xfrm>
          <a:prstGeom prst="rect">
            <a:avLst/>
          </a:prstGeom>
          <a:solidFill>
            <a:srgbClr val="E8F2FA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855464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: Git / GitHub  ·  Visual Studio Code  ·  Postman  ·  XAMPP  ·  MySQL Workbench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Modèle Conceptuel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92225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de Cas d'Utilisation — Vue synthétique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1865376"/>
            <a:ext cx="24231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47288" y="13716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12496" y="1280160"/>
            <a:ext cx="24231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45936" y="13716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91656" y="1865376"/>
            <a:ext cx="24231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SzPct val="100000"/>
            </a:pP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4855464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8AF03FD1-A619-4A87-BFAF-2A7C968BF0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80160"/>
            <a:ext cx="3518136" cy="3586472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0A19EC59-98BC-9BB5-B580-0E49E2A94E35}"/>
              </a:ext>
            </a:extLst>
          </p:cNvPr>
          <p:cNvSpPr/>
          <p:nvPr/>
        </p:nvSpPr>
        <p:spPr>
          <a:xfrm>
            <a:off x="4247349" y="1975104"/>
            <a:ext cx="4014293" cy="1720916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Ce schéma illustre le </a:t>
            </a:r>
            <a:r>
              <a:rPr lang="fr-FR" sz="1200" b="1" dirty="0"/>
              <a:t>système de location de voitures</a:t>
            </a:r>
            <a:r>
              <a:rPr lang="fr-FR" sz="1200" dirty="0"/>
              <a:t> avec trois acteurs principaux : le </a:t>
            </a:r>
            <a:r>
              <a:rPr lang="fr-FR" sz="1200" b="1" dirty="0"/>
              <a:t>Client</a:t>
            </a:r>
            <a:r>
              <a:rPr lang="fr-FR" sz="1200" dirty="0"/>
              <a:t>, l’</a:t>
            </a:r>
            <a:r>
              <a:rPr lang="fr-FR" sz="1200" b="1" dirty="0"/>
              <a:t>Entreprise de Location</a:t>
            </a:r>
            <a:r>
              <a:rPr lang="fr-FR" sz="1200" dirty="0"/>
              <a:t> et l’</a:t>
            </a:r>
            <a:r>
              <a:rPr lang="fr-FR" sz="1200" b="1" dirty="0"/>
              <a:t>Administrateur</a:t>
            </a:r>
            <a:r>
              <a:rPr lang="fr-FR" sz="1200" dirty="0"/>
              <a:t>. Chaque acteur est relié aux fonctionnalités qu’il utilise (recherche, réservation, paiement, gestion, supervision), et toutes ces actions passent par le cas d’utilisation central </a:t>
            </a:r>
            <a:r>
              <a:rPr lang="fr-FR" sz="1200" b="1" dirty="0"/>
              <a:t>Connexion</a:t>
            </a:r>
            <a:r>
              <a:rPr lang="fr-FR" sz="1200" dirty="0"/>
              <a:t>, qui garantit l’authentification avant d’accéder aux services.</a:t>
            </a:r>
          </a:p>
          <a:p>
            <a:pPr algn="ctr"/>
            <a:endParaRPr lang="fr-F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Conception Technique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65592" y="47731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65276" y="914400"/>
            <a:ext cx="694944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109728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(React.js + Vite)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50876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 ·  Framer Motion  ·  React Router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2011680"/>
            <a:ext cx="73152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20299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JSON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97280" y="2286000"/>
            <a:ext cx="6949440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71600" y="237744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(Node.js + Express.js)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78892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 ·  CORS  ·  bcryptjs  ·  RBAC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0" y="3291840"/>
            <a:ext cx="73152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33101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JSON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97280" y="3566160"/>
            <a:ext cx="694944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371600" y="365760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(MySQL)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406908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agencies · vehicles · reservations · reviews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572000"/>
            <a:ext cx="1508760" cy="219456"/>
          </a:xfrm>
          <a:prstGeom prst="rect">
            <a:avLst/>
          </a:prstGeom>
          <a:solidFill>
            <a:srgbClr val="E8F2F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57200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21408" y="4572000"/>
            <a:ext cx="1508760" cy="219456"/>
          </a:xfrm>
          <a:prstGeom prst="rect">
            <a:avLst/>
          </a:prstGeom>
          <a:solidFill>
            <a:srgbClr val="E8F2F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21408" y="457200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785616" y="4572000"/>
            <a:ext cx="1508760" cy="219456"/>
          </a:xfrm>
          <a:prstGeom prst="rect">
            <a:avLst/>
          </a:prstGeom>
          <a:solidFill>
            <a:srgbClr val="E8F2F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85616" y="457200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49824" y="4572000"/>
            <a:ext cx="1508760" cy="219456"/>
          </a:xfrm>
          <a:prstGeom prst="rect">
            <a:avLst/>
          </a:prstGeom>
          <a:solidFill>
            <a:srgbClr val="E8F2F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49824" y="457200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114032" y="4572000"/>
            <a:ext cx="1508760" cy="219456"/>
          </a:xfrm>
          <a:prstGeom prst="rect">
            <a:avLst/>
          </a:prstGeom>
          <a:solidFill>
            <a:srgbClr val="E8F5F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14032" y="457200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828032"/>
            <a:ext cx="1508760" cy="219456"/>
          </a:xfrm>
          <a:prstGeom prst="rect">
            <a:avLst/>
          </a:prstGeom>
          <a:solidFill>
            <a:srgbClr val="E8F5F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82803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121408" y="4828032"/>
            <a:ext cx="1508760" cy="219456"/>
          </a:xfrm>
          <a:prstGeom prst="rect">
            <a:avLst/>
          </a:prstGeom>
          <a:solidFill>
            <a:srgbClr val="E8F5F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21408" y="482803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785616" y="4828032"/>
            <a:ext cx="1508760" cy="219456"/>
          </a:xfrm>
          <a:prstGeom prst="rect">
            <a:avLst/>
          </a:prstGeom>
          <a:solidFill>
            <a:srgbClr val="E8F5F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85616" y="482803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49824" y="4828032"/>
            <a:ext cx="1508760" cy="219456"/>
          </a:xfrm>
          <a:prstGeom prst="rect">
            <a:avLst/>
          </a:prstGeom>
          <a:solidFill>
            <a:srgbClr val="FEF3E2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49824" y="482803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bcryptjs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114032" y="4828032"/>
            <a:ext cx="1508760" cy="219456"/>
          </a:xfrm>
          <a:prstGeom prst="rect">
            <a:avLst/>
          </a:prstGeom>
          <a:solidFill>
            <a:srgbClr val="FEF3E2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14032" y="482803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 &amp; Démonstration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078992"/>
            <a:ext cx="3785616" cy="1051560"/>
          </a:xfrm>
          <a:prstGeom prst="rect">
            <a:avLst/>
          </a:prstGeom>
          <a:solidFill>
            <a:srgbClr val="E8F2FA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115568"/>
            <a:ext cx="137160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53312"/>
            <a:ext cx="3474720" cy="91440"/>
          </a:xfrm>
          <a:prstGeom prst="rect">
            <a:avLst/>
          </a:prstGeom>
          <a:solidFill>
            <a:srgbClr val="DDE8F0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517904"/>
            <a:ext cx="2286000" cy="91440"/>
          </a:xfrm>
          <a:prstGeom prst="rect">
            <a:avLst/>
          </a:prstGeom>
          <a:solidFill>
            <a:srgbClr val="DDE8F0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664208"/>
            <a:ext cx="1097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0" y="1664208"/>
            <a:ext cx="1097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63240" y="1664208"/>
            <a:ext cx="1097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1945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d'accueil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24871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plateforme, véhicules phares, CTA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1005840"/>
            <a:ext cx="3931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36592" y="1078992"/>
            <a:ext cx="3785616" cy="1051560"/>
          </a:xfrm>
          <a:prstGeom prst="rect">
            <a:avLst/>
          </a:prstGeom>
          <a:solidFill>
            <a:srgbClr val="EAF5F0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1115568"/>
            <a:ext cx="137160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1353312"/>
            <a:ext cx="3474720" cy="91440"/>
          </a:xfrm>
          <a:prstGeom prst="rect">
            <a:avLst/>
          </a:prstGeom>
          <a:solidFill>
            <a:srgbClr val="DDE8F0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1517904"/>
            <a:ext cx="2286000" cy="91440"/>
          </a:xfrm>
          <a:prstGeom prst="rect">
            <a:avLst/>
          </a:prstGeom>
          <a:solidFill>
            <a:srgbClr val="DDE8F0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1664208"/>
            <a:ext cx="1097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040" y="1664208"/>
            <a:ext cx="1097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69480" y="1664208"/>
            <a:ext cx="1097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1945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+ Filtres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54880" y="24871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par marque, catégorie, prix, dispo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017520"/>
            <a:ext cx="39319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30352" y="3090672"/>
            <a:ext cx="3785616" cy="1051560"/>
          </a:xfrm>
          <a:prstGeom prst="rect">
            <a:avLst/>
          </a:prstGeom>
          <a:solidFill>
            <a:srgbClr val="E8F2FA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3127248"/>
            <a:ext cx="137160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3364992"/>
            <a:ext cx="3474720" cy="91440"/>
          </a:xfrm>
          <a:prstGeom prst="rect">
            <a:avLst/>
          </a:prstGeom>
          <a:solidFill>
            <a:srgbClr val="DDE8F0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3529584"/>
            <a:ext cx="2286000" cy="91440"/>
          </a:xfrm>
          <a:prstGeom prst="rect">
            <a:avLst/>
          </a:prstGeom>
          <a:solidFill>
            <a:srgbClr val="DDE8F0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3675888"/>
            <a:ext cx="1097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28800" y="3675888"/>
            <a:ext cx="1097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63240" y="3675888"/>
            <a:ext cx="1097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206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Agence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8640" y="44988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flotte, validation réservations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663440" y="3017520"/>
            <a:ext cx="39319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36592" y="3090672"/>
            <a:ext cx="3785616" cy="1051560"/>
          </a:xfrm>
          <a:prstGeom prst="rect">
            <a:avLst/>
          </a:prstGeom>
          <a:solidFill>
            <a:srgbClr val="EAF5F0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00600" y="3127248"/>
            <a:ext cx="137160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00600" y="3364992"/>
            <a:ext cx="3474720" cy="91440"/>
          </a:xfrm>
          <a:prstGeom prst="rect">
            <a:avLst/>
          </a:prstGeom>
          <a:solidFill>
            <a:srgbClr val="DDE8F0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00600" y="3529584"/>
            <a:ext cx="2286000" cy="91440"/>
          </a:xfrm>
          <a:prstGeom prst="rect">
            <a:avLst/>
          </a:prstGeom>
          <a:solidFill>
            <a:srgbClr val="DDE8F0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00600" y="3675888"/>
            <a:ext cx="1097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35040" y="3675888"/>
            <a:ext cx="1097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69480" y="3675888"/>
            <a:ext cx="1097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4206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Admin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754880" y="44988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globale, statistiques, utilisateurs</a:t>
            </a:r>
            <a:endParaRPr lang="en-US" sz="1200" dirty="0"/>
          </a:p>
        </p:txBody>
      </p:sp>
      <p:pic>
        <p:nvPicPr>
          <p:cNvPr id="45" name="Image 44">
            <a:extLst>
              <a:ext uri="{FF2B5EF4-FFF2-40B4-BE49-F238E27FC236}">
                <a16:creationId xmlns:a16="http://schemas.microsoft.com/office/drawing/2014/main" id="{D5A803EA-478E-9738-11F8-A1BEEFBBD9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353" y="1078992"/>
            <a:ext cx="3785616" cy="1056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Image 45">
            <a:extLst>
              <a:ext uri="{FF2B5EF4-FFF2-40B4-BE49-F238E27FC236}">
                <a16:creationId xmlns:a16="http://schemas.microsoft.com/office/drawing/2014/main" id="{6C9583D5-F68D-55E8-66B8-A01E44883C6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6593" y="1069848"/>
            <a:ext cx="3785616" cy="1040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Image 46">
            <a:extLst>
              <a:ext uri="{FF2B5EF4-FFF2-40B4-BE49-F238E27FC236}">
                <a16:creationId xmlns:a16="http://schemas.microsoft.com/office/drawing/2014/main" id="{083CC3A1-6472-7FB0-90F6-7690D3B6B12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353" y="3090673"/>
            <a:ext cx="3785615" cy="1042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Image 47">
            <a:extLst>
              <a:ext uri="{FF2B5EF4-FFF2-40B4-BE49-F238E27FC236}">
                <a16:creationId xmlns:a16="http://schemas.microsoft.com/office/drawing/2014/main" id="{9FE2A8D7-F35C-3533-7272-2C3CEC16246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6593" y="3099816"/>
            <a:ext cx="3785615" cy="1042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&amp; Tests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49545"/>
              </p:ext>
            </p:extLst>
          </p:nvPr>
        </p:nvGraphicFramePr>
        <p:xfrm>
          <a:off x="457200" y="1005840"/>
          <a:ext cx="8229599" cy="3749040"/>
        </p:xfrm>
        <a:graphic>
          <a:graphicData uri="http://schemas.openxmlformats.org/drawingml/2006/table">
            <a:tbl>
              <a:tblPr/>
              <a:tblGrid>
                <a:gridCol w="16254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7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6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6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Scénario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testée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Authentification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Inscription valide → token retourné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Réussi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Authentification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déjà utilisé → erreur appropriée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Réussi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 véhicules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Ajout véhicule en BDD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Réussi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 véhicules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Modif. véhicule autre agence → 403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Réussi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Réservation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Dates disponibles → réservation créée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Réussi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Réservation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Chevauchement de dates → erreur dispo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Réussi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agence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 mis à jour (confirmée/refusée)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Réussi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Statistiques globales correctes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Réussi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— Points Forts &amp; Limites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0690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406908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Points Forts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37490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moderne et responsive (Tailwind + Framer Motion)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multi-rôles sécurisé (JWT + RBAC)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robuste avec ~20 endpoints documentés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fiable des conflits de dates de réservation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bien structuré et maintenable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0690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05840"/>
            <a:ext cx="4069080" cy="41148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Limites actuelles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1463040"/>
            <a:ext cx="37490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paiement en ligne intégré (Stripe / CMI)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non temps-réel (pas de WebSockets)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d'application mobile encore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uniquement manuels (pas de tests automatisés)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32104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24128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: MarocAuto Premium est une plateforme Full-Stack fonctionnelle qui répond aux besoins des clients, agences et administrateurs avec une expérience moderne et sécurisée.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3977640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1762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acquises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542032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hooks, Context, Router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Node.js/Express.js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+ modélisation relationnelle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RBAC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projet &amp; UML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09160" y="2103120"/>
            <a:ext cx="3977640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21762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futures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2542032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en ligne (Stripe / CMI)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temps réel (Socket.io)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React Native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Géolocalisation des agences (Leaflet)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automatisés (Jest / RTL)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Internationalisation FR / AR / EN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Remerciements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474720" y="1280160"/>
            <a:ext cx="219456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508760"/>
            <a:ext cx="6400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ctr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Soukayna Mayara — Encadrante pédagogique</a:t>
            </a:r>
            <a:endParaRPr lang="en-US" sz="1500" dirty="0"/>
          </a:p>
          <a:p>
            <a:pPr marL="342900" indent="-342900" algn="ctr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Corps enseignant du département informatique — EMSI</a:t>
            </a:r>
            <a:endParaRPr lang="en-US" sz="1500" dirty="0"/>
          </a:p>
          <a:p>
            <a:pPr marL="342900" indent="-342900" algn="ctr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familles, pour leur soutien indéfectible</a:t>
            </a:r>
            <a:endParaRPr lang="en-US" sz="1500" dirty="0"/>
          </a:p>
          <a:p>
            <a:pPr marL="342900" indent="-342900" algn="ctr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camarades de promotion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0"/>
            <a:ext cx="2743200" cy="5143500"/>
          </a:xfrm>
          <a:prstGeom prst="rect">
            <a:avLst/>
          </a:prstGeom>
          <a:solidFill>
            <a:srgbClr val="065A82">
              <a:alpha val="20000"/>
            </a:srgbClr>
          </a:solidFill>
          <a:ln w="12700">
            <a:solidFill>
              <a:srgbClr val="065A82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C7293">
              <a:alpha val="12000"/>
            </a:srgbClr>
          </a:solidFill>
          <a:ln w="12700">
            <a:solidFill>
              <a:srgbClr val="1C7293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200400" y="1783080"/>
            <a:ext cx="27432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20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MarocAuto Premium — Fatiha Sabar &amp; Errami Mohamed Taha — EMSI 3IIR 2025-2026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922</Words>
  <Application>Microsoft Office PowerPoint</Application>
  <PresentationFormat>Affichage à l'écran (16:9)</PresentationFormat>
  <Paragraphs>224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MarocAuto Premium</dc:title>
  <dc:subject>PptxGenJS Presentation</dc:subject>
  <dc:creator>PptxGenJS</dc:creator>
  <cp:lastModifiedBy>Fatiha Sabar</cp:lastModifiedBy>
  <cp:revision>2</cp:revision>
  <dcterms:created xsi:type="dcterms:W3CDTF">2026-05-14T22:31:25Z</dcterms:created>
  <dcterms:modified xsi:type="dcterms:W3CDTF">2026-05-14T23:58:50Z</dcterms:modified>
</cp:coreProperties>
</file>